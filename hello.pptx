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svg" ContentType="image/svg"/>
  <Override PartName="/ppt/media/image9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10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перемещения страницы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&lt;верхний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BFD6F79-45D8-4E73-B898-29F04EDAF898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85E545-1D45-4C8C-9FCA-28A2877059B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31B726-6EA7-47DF-88AA-4282575D4CD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3E1226-926B-422A-AF3B-6F663AB054A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73D48B-F05E-4DED-8138-D823CF7472D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DF522F-4DE6-4AA7-9356-1360B5633EE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0136E5-8652-41DF-8AA3-A8551361530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b10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" name="Shape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1c1d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9080" y="4844520"/>
            <a:ext cx="107136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hyperlink" Target="https://github.com/Zipoo-i/alarm" TargetMode="External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360000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Text 0"/>
          <p:cNvSpPr/>
          <p:nvPr/>
        </p:nvSpPr>
        <p:spPr>
          <a:xfrm>
            <a:off x="3925080" y="1800720"/>
            <a:ext cx="362304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e1e5cd"/>
                </a:solidFill>
                <a:effectLst/>
                <a:uFillTx/>
                <a:latin typeface="Outfit Bold"/>
                <a:ea typeface="Outfit Bold"/>
              </a:rPr>
              <a:t>Alarm &amp; Timer System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1"/>
          <p:cNvSpPr/>
          <p:nvPr/>
        </p:nvSpPr>
        <p:spPr>
          <a:xfrm>
            <a:off x="3925080" y="2374560"/>
            <a:ext cx="4722480" cy="59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Полностью рабочая система будильников и таймера на </a:t>
            </a:r>
            <a:r>
              <a:rPr b="1" lang="en-US" sz="950" strike="noStrike" u="none">
                <a:solidFill>
                  <a:srgbClr val="c2c4b5"/>
                </a:solidFill>
                <a:effectLst/>
                <a:uFillTx/>
                <a:latin typeface="Bitter Bold"/>
                <a:ea typeface="Bitter Bold"/>
              </a:rPr>
              <a:t>C (Win32)</a:t>
            </a:r>
            <a:r>
              <a:rPr b="0" lang="en-US" sz="95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 с хранением данных в </a:t>
            </a:r>
            <a:r>
              <a:rPr b="1" lang="en-US" sz="950" strike="noStrike" u="none">
                <a:solidFill>
                  <a:srgbClr val="c2c4b5"/>
                </a:solidFill>
                <a:effectLst/>
                <a:uFillTx/>
                <a:latin typeface="Bitter Bold"/>
                <a:ea typeface="Bitter Bold"/>
              </a:rPr>
              <a:t>SQLite</a:t>
            </a:r>
            <a:r>
              <a:rPr b="0" lang="en-US" sz="95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 и автоматическим запуском через </a:t>
            </a:r>
            <a:r>
              <a:rPr b="1" lang="en-US" sz="950" strike="noStrike" u="none">
                <a:solidFill>
                  <a:srgbClr val="c2c4b5"/>
                </a:solidFill>
                <a:effectLst/>
                <a:uFillTx/>
                <a:latin typeface="Bitter Bold"/>
                <a:ea typeface="Bitter Bold"/>
              </a:rPr>
              <a:t>планировщик Windows</a:t>
            </a:r>
            <a:r>
              <a:rPr b="0" lang="en-US" sz="95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.</a:t>
            </a:r>
            <a:endParaRPr b="0" lang="ru-RU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2"/>
          <p:cNvSpPr/>
          <p:nvPr/>
        </p:nvSpPr>
        <p:spPr>
          <a:xfrm>
            <a:off x="3925080" y="3109320"/>
            <a:ext cx="885600" cy="232920"/>
          </a:xfrm>
          <a:prstGeom prst="roundRect">
            <a:avLst>
              <a:gd name="adj" fmla="val 6383"/>
            </a:avLst>
          </a:prstGeom>
          <a:solidFill>
            <a:srgbClr val="2a2c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3"/>
          <p:cNvSpPr/>
          <p:nvPr/>
        </p:nvSpPr>
        <p:spPr>
          <a:xfrm>
            <a:off x="3999600" y="3146760"/>
            <a:ext cx="11941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АВТОР: ZIPOO-I</a:t>
            </a:r>
            <a:endParaRPr b="0" lang="ru-RU" sz="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4"/>
          <p:cNvSpPr/>
          <p:nvPr/>
        </p:nvSpPr>
        <p:spPr>
          <a:xfrm>
            <a:off x="4873320" y="3109320"/>
            <a:ext cx="947880" cy="232920"/>
          </a:xfrm>
          <a:prstGeom prst="roundRect">
            <a:avLst>
              <a:gd name="adj" fmla="val 6383"/>
            </a:avLst>
          </a:prstGeom>
          <a:noFill/>
          <a:ln w="0">
            <a:noFill/>
          </a:ln>
          <a:effectLst>
            <a:outerShdw algn="bl" blurRad="101520" dir="16200000" dist="50760" kx="0" ky="0" rotWithShape="0" sx="100000" sy="100000">
              <a:srgbClr val="9fa58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5"/>
          <p:cNvSpPr/>
          <p:nvPr/>
        </p:nvSpPr>
        <p:spPr>
          <a:xfrm>
            <a:off x="4947480" y="3146760"/>
            <a:ext cx="125604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9fa582"/>
                </a:solidFill>
                <a:effectLst/>
                <a:uFillTx/>
                <a:latin typeface="Bitter"/>
                <a:ea typeface="Bitter"/>
              </a:rPr>
              <a:t>GITHUB: ZIPOO-I</a:t>
            </a:r>
            <a:endParaRPr b="0" lang="ru-RU" sz="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6"/>
          <p:cNvSpPr/>
          <p:nvPr/>
        </p:nvSpPr>
        <p:spPr>
          <a:xfrm>
            <a:off x="5883480" y="3109320"/>
            <a:ext cx="1590480" cy="232920"/>
          </a:xfrm>
          <a:prstGeom prst="roundRect">
            <a:avLst>
              <a:gd name="adj" fmla="val 6383"/>
            </a:avLst>
          </a:prstGeom>
          <a:noFill/>
          <a:ln w="0">
            <a:noFill/>
          </a:ln>
          <a:effectLst>
            <a:outerShdw algn="bl" blurRad="101520" dir="16200000" dist="50760" kx="0" ky="0" rotWithShape="0" sx="100000" sy="100000">
              <a:srgbClr val="9fa58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7"/>
          <p:cNvSpPr/>
          <p:nvPr/>
        </p:nvSpPr>
        <p:spPr>
          <a:xfrm>
            <a:off x="5957640" y="3146760"/>
            <a:ext cx="189900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9fa582"/>
                </a:solidFill>
                <a:effectLst/>
                <a:uFillTx/>
                <a:latin typeface="Bitter"/>
                <a:ea typeface="Bitter"/>
              </a:rPr>
              <a:t>C / WIN32 / SQLITE / SCHTASKS</a:t>
            </a:r>
            <a:endParaRPr b="0" lang="ru-RU" sz="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" name="" descr=""/>
          <p:cNvPicPr/>
          <p:nvPr/>
        </p:nvPicPr>
        <p:blipFill>
          <a:blip r:embed="rId2"/>
          <a:stretch/>
        </p:blipFill>
        <p:spPr>
          <a:xfrm>
            <a:off x="3780000" y="215280"/>
            <a:ext cx="5220000" cy="140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"/>
          <p:cNvSpPr/>
          <p:nvPr/>
        </p:nvSpPr>
        <p:spPr>
          <a:xfrm>
            <a:off x="7920000" y="4860000"/>
            <a:ext cx="1224000" cy="28368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" name="" descr=""/>
          <p:cNvPicPr/>
          <p:nvPr/>
        </p:nvPicPr>
        <p:blipFill>
          <a:blip r:embed="rId3"/>
          <a:stretch/>
        </p:blipFill>
        <p:spPr>
          <a:xfrm>
            <a:off x="3960000" y="3413880"/>
            <a:ext cx="5201640" cy="2166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0"/>
          <p:cNvSpPr/>
          <p:nvPr/>
        </p:nvSpPr>
        <p:spPr>
          <a:xfrm>
            <a:off x="496080" y="769320"/>
            <a:ext cx="568656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e1e5cd"/>
                </a:solidFill>
                <a:effectLst/>
                <a:uFillTx/>
                <a:latin typeface="Outfit Bold"/>
                <a:ea typeface="Outfit Bold"/>
              </a:rPr>
              <a:t>Задача и возможности системы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"/>
          <p:cNvSpPr/>
          <p:nvPr/>
        </p:nvSpPr>
        <p:spPr>
          <a:xfrm>
            <a:off x="496080" y="1405080"/>
            <a:ext cx="815148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Цель проекта — создать простую, но функциональную консольную систему управления будильниками и таймером для Windows. Никакого GUI — только чистый C и Windows API. Всё работает «из коробки» после сборки.</a:t>
            </a:r>
            <a:endParaRPr b="0" lang="ru-RU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4727880" y="2065320"/>
            <a:ext cx="237852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e1e5cd"/>
                </a:solidFill>
                <a:effectLst/>
                <a:uFillTx/>
                <a:latin typeface="Outfit Bold"/>
                <a:ea typeface="Outfit Bold"/>
              </a:rPr>
              <a:t>Ключевые особенности</a:t>
            </a:r>
            <a:endParaRPr b="0" lang="ru-RU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774680" y="2404800"/>
            <a:ext cx="185760" cy="18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Text 6"/>
          <p:cNvSpPr/>
          <p:nvPr/>
        </p:nvSpPr>
        <p:spPr>
          <a:xfrm>
            <a:off x="5131080" y="2398680"/>
            <a:ext cx="1481400" cy="11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c2c4b5"/>
                </a:solidFill>
                <a:effectLst/>
                <a:uFillTx/>
                <a:latin typeface="Bitter Bold"/>
                <a:ea typeface="Bitter Bold"/>
              </a:rPr>
              <a:t>Одноразовые будильники</a:t>
            </a:r>
            <a:r>
              <a:rPr b="0" lang="en-US" sz="95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 — автоматически удаляются после срабатывания и ввода «stop»</a:t>
            </a:r>
            <a:endParaRPr b="0" lang="ru-RU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814440" y="2404800"/>
            <a:ext cx="185760" cy="18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Text 7"/>
          <p:cNvSpPr/>
          <p:nvPr/>
        </p:nvSpPr>
        <p:spPr>
          <a:xfrm>
            <a:off x="7170840" y="2398680"/>
            <a:ext cx="1481400" cy="9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2500" lnSpcReduction="9999"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c2c4b5"/>
                </a:solidFill>
                <a:effectLst/>
                <a:uFillTx/>
                <a:latin typeface="Bitter Bold"/>
                <a:ea typeface="Bitter Bold"/>
              </a:rPr>
              <a:t>Ежедневные будильники</a:t>
            </a:r>
            <a:r>
              <a:rPr b="0" lang="en-US" sz="95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 — остаются в базе и планировщике, срабатывают каждый день</a:t>
            </a:r>
            <a:endParaRPr b="0" lang="ru-RU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4774680" y="3843720"/>
            <a:ext cx="185760" cy="18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Text 8"/>
          <p:cNvSpPr/>
          <p:nvPr/>
        </p:nvSpPr>
        <p:spPr>
          <a:xfrm>
            <a:off x="5131080" y="3837600"/>
            <a:ext cx="352116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c2c4b5"/>
                </a:solidFill>
                <a:effectLst/>
                <a:uFillTx/>
                <a:latin typeface="Bitter Bold"/>
                <a:ea typeface="Bitter Bold"/>
              </a:rPr>
              <a:t>Уведомления</a:t>
            </a:r>
            <a:r>
              <a:rPr b="0" lang="en-US" sz="95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 — MessageBox + консоль с заметкой при каждом срабатывании</a:t>
            </a:r>
            <a:endParaRPr b="0" lang="ru-RU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7920000" y="4860000"/>
            <a:ext cx="1224000" cy="28368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" name="" descr=""/>
          <p:cNvPicPr/>
          <p:nvPr/>
        </p:nvPicPr>
        <p:blipFill>
          <a:blip r:embed="rId7"/>
          <a:stretch/>
        </p:blipFill>
        <p:spPr>
          <a:xfrm>
            <a:off x="360000" y="1980000"/>
            <a:ext cx="4140000" cy="234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/>
          <p:cNvSpPr/>
          <p:nvPr/>
        </p:nvSpPr>
        <p:spPr>
          <a:xfrm>
            <a:off x="496080" y="353520"/>
            <a:ext cx="336420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2250" strike="noStrike" u="none">
                <a:solidFill>
                  <a:srgbClr val="e1e5cd"/>
                </a:solidFill>
                <a:effectLst/>
                <a:uFillTx/>
                <a:latin typeface="Outfit Bold"/>
                <a:ea typeface="Outfit Bold"/>
              </a:rPr>
              <a:t>Состав проекта</a:t>
            </a:r>
            <a:endParaRPr b="0" lang="ru-RU" sz="2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"/>
          <p:cNvSpPr/>
          <p:nvPr/>
        </p:nvSpPr>
        <p:spPr>
          <a:xfrm>
            <a:off x="496080" y="934920"/>
            <a:ext cx="8151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9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Проект состоит из четырёх исполняемых файлов, общей библиотеки функций и скрипта сборки. Все артефакты после компиляции находятся в папке </a:t>
            </a:r>
            <a:r>
              <a:rPr b="0" lang="en-US" sz="900" strike="noStrike" u="none">
                <a:solidFill>
                  <a:srgbClr val="c2c4b5"/>
                </a:solidFill>
                <a:effectLst/>
                <a:highlight>
                  <a:srgbClr val="292a2c"/>
                </a:highlight>
                <a:uFillTx/>
                <a:latin typeface="Consolas"/>
                <a:ea typeface="Consolas"/>
              </a:rPr>
              <a:t>CODE\run</a:t>
            </a:r>
            <a:r>
              <a:rPr b="0" lang="en-US" sz="90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.</a:t>
            </a:r>
            <a:endParaRPr b="0" lang="ru-RU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"/>
          <p:cNvSpPr/>
          <p:nvPr/>
        </p:nvSpPr>
        <p:spPr>
          <a:xfrm>
            <a:off x="496080" y="1422720"/>
            <a:ext cx="8151480" cy="2682000"/>
          </a:xfrm>
          <a:prstGeom prst="roundRect">
            <a:avLst>
              <a:gd name="adj" fmla="val 650"/>
            </a:avLst>
          </a:prstGeom>
          <a:noFill/>
          <a:ln w="4763">
            <a:solidFill>
              <a:srgbClr val="ffffff">
                <a:alpha val="24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3"/>
          <p:cNvSpPr/>
          <p:nvPr/>
        </p:nvSpPr>
        <p:spPr>
          <a:xfrm>
            <a:off x="617040" y="1497960"/>
            <a:ext cx="250164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29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c2c4b5"/>
                </a:solidFill>
                <a:effectLst/>
                <a:uFillTx/>
                <a:latin typeface="Bitter Bold"/>
                <a:ea typeface="Bitter Bold"/>
              </a:rPr>
              <a:t>Файл</a:t>
            </a:r>
            <a:endParaRPr b="0" lang="ru-RU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4"/>
          <p:cNvSpPr/>
          <p:nvPr/>
        </p:nvSpPr>
        <p:spPr>
          <a:xfrm>
            <a:off x="2899440" y="1497960"/>
            <a:ext cx="380196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29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c2c4b5"/>
                </a:solidFill>
                <a:effectLst/>
                <a:uFillTx/>
                <a:latin typeface="Bitter Bold"/>
                <a:ea typeface="Bitter Bold"/>
              </a:rPr>
              <a:t>Назначение</a:t>
            </a:r>
            <a:endParaRPr b="0" lang="ru-RU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5"/>
          <p:cNvSpPr/>
          <p:nvPr/>
        </p:nvSpPr>
        <p:spPr>
          <a:xfrm>
            <a:off x="6481800" y="1497960"/>
            <a:ext cx="250164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29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c2c4b5"/>
                </a:solidFill>
                <a:effectLst/>
                <a:uFillTx/>
                <a:latin typeface="Bitter Bold"/>
                <a:ea typeface="Bitter Bold"/>
              </a:rPr>
              <a:t>Ключевые функции</a:t>
            </a:r>
            <a:endParaRPr b="0" lang="ru-RU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6"/>
          <p:cNvSpPr/>
          <p:nvPr/>
        </p:nvSpPr>
        <p:spPr>
          <a:xfrm>
            <a:off x="617040" y="1823040"/>
            <a:ext cx="25016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29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c2c4b5"/>
                </a:solidFill>
                <a:effectLst/>
                <a:highlight>
                  <a:srgbClr val="292a2c"/>
                </a:highlight>
                <a:uFillTx/>
                <a:latin typeface="CMU Concrete"/>
                <a:ea typeface="Consolas"/>
              </a:rPr>
              <a:t>alarm_managere.exe</a:t>
            </a:r>
            <a:endParaRPr b="0" lang="ru-RU" sz="900" strike="noStrike" u="none">
              <a:solidFill>
                <a:srgbClr val="ffffff"/>
              </a:solidFill>
              <a:effectLst/>
              <a:uFillTx/>
              <a:latin typeface="CMU Concrete"/>
            </a:endParaRPr>
          </a:p>
        </p:txBody>
      </p:sp>
      <p:sp>
        <p:nvSpPr>
          <p:cNvPr id="41" name="Text 7"/>
          <p:cNvSpPr/>
          <p:nvPr/>
        </p:nvSpPr>
        <p:spPr>
          <a:xfrm>
            <a:off x="2899440" y="1823040"/>
            <a:ext cx="380196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29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Консольное меню управления будильниками</a:t>
            </a:r>
            <a:endParaRPr b="0" lang="ru-RU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8"/>
          <p:cNvSpPr/>
          <p:nvPr/>
        </p:nvSpPr>
        <p:spPr>
          <a:xfrm>
            <a:off x="6481800" y="1823040"/>
            <a:ext cx="20444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9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Добавление, список, удаление, запуск таймера</a:t>
            </a:r>
            <a:endParaRPr b="0" lang="ru-RU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9"/>
          <p:cNvSpPr/>
          <p:nvPr/>
        </p:nvSpPr>
        <p:spPr>
          <a:xfrm>
            <a:off x="617040" y="2328840"/>
            <a:ext cx="25016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29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c2c4b5"/>
                </a:solidFill>
                <a:effectLst/>
                <a:highlight>
                  <a:srgbClr val="292a2c"/>
                </a:highlight>
                <a:uFillTx/>
                <a:latin typeface="Consolas"/>
                <a:ea typeface="Consolas"/>
              </a:rPr>
              <a:t>T</a:t>
            </a:r>
            <a:r>
              <a:rPr b="0" lang="en-US" sz="900" strike="noStrike" u="none">
                <a:solidFill>
                  <a:srgbClr val="c2c4b5"/>
                </a:solidFill>
                <a:effectLst/>
                <a:highlight>
                  <a:srgbClr val="292a2c"/>
                </a:highlight>
                <a:uFillTx/>
                <a:latin typeface="CMU Concrete"/>
                <a:ea typeface="Consolas"/>
              </a:rPr>
              <a:t>reme.exe</a:t>
            </a:r>
            <a:endParaRPr b="0" lang="ru-RU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0"/>
          <p:cNvSpPr/>
          <p:nvPr/>
        </p:nvSpPr>
        <p:spPr>
          <a:xfrm>
            <a:off x="2899440" y="2328840"/>
            <a:ext cx="334476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9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Запускается планировщиком при срабатывании будильника</a:t>
            </a:r>
            <a:endParaRPr b="0" lang="ru-RU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1"/>
          <p:cNvSpPr/>
          <p:nvPr/>
        </p:nvSpPr>
        <p:spPr>
          <a:xfrm>
            <a:off x="6481800" y="2328840"/>
            <a:ext cx="20444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9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MessageBox, ждёт «stop», удаляет разовые будильники</a:t>
            </a:r>
            <a:endParaRPr b="0" lang="ru-RU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2"/>
          <p:cNvSpPr/>
          <p:nvPr/>
        </p:nvSpPr>
        <p:spPr>
          <a:xfrm>
            <a:off x="617040" y="2834280"/>
            <a:ext cx="25016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29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c2c4b5"/>
                </a:solidFill>
                <a:effectLst/>
                <a:highlight>
                  <a:srgbClr val="292a2c"/>
                </a:highlight>
                <a:uFillTx/>
                <a:latin typeface="CMU Concrete"/>
                <a:ea typeface="Consolas"/>
              </a:rPr>
              <a:t>Timer.exe</a:t>
            </a:r>
            <a:endParaRPr b="0" lang="ru-RU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3"/>
          <p:cNvSpPr/>
          <p:nvPr/>
        </p:nvSpPr>
        <p:spPr>
          <a:xfrm>
            <a:off x="2899440" y="2834280"/>
            <a:ext cx="380196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29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Отдельный таймер с обратным отсчётом</a:t>
            </a:r>
            <a:endParaRPr b="0" lang="ru-RU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4"/>
          <p:cNvSpPr/>
          <p:nvPr/>
        </p:nvSpPr>
        <p:spPr>
          <a:xfrm>
            <a:off x="6481800" y="2834280"/>
            <a:ext cx="20444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9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Countdown, beep, MessageBox, ждёт «stop»</a:t>
            </a:r>
            <a:endParaRPr b="0" lang="ru-RU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5"/>
          <p:cNvSpPr/>
          <p:nvPr/>
        </p:nvSpPr>
        <p:spPr>
          <a:xfrm>
            <a:off x="617040" y="3339720"/>
            <a:ext cx="25016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29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c2c4b5"/>
                </a:solidFill>
                <a:effectLst/>
                <a:highlight>
                  <a:srgbClr val="292a2c"/>
                </a:highlight>
                <a:uFillTx/>
                <a:latin typeface="CMU Concrete"/>
                <a:ea typeface="Consolas"/>
              </a:rPr>
              <a:t>alarms.bd</a:t>
            </a:r>
            <a:endParaRPr b="0" lang="ru-RU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6"/>
          <p:cNvSpPr/>
          <p:nvPr/>
        </p:nvSpPr>
        <p:spPr>
          <a:xfrm>
            <a:off x="2899440" y="3339720"/>
            <a:ext cx="380196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29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SQLite-база данных (создаётся автоматически)</a:t>
            </a:r>
            <a:endParaRPr b="0" lang="ru-RU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7"/>
          <p:cNvSpPr/>
          <p:nvPr/>
        </p:nvSpPr>
        <p:spPr>
          <a:xfrm>
            <a:off x="6481800" y="3339720"/>
            <a:ext cx="20444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9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ID, время, заметки, тип, task_name, enabled</a:t>
            </a:r>
            <a:endParaRPr b="0" lang="ru-RU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8"/>
          <p:cNvSpPr/>
          <p:nvPr/>
        </p:nvSpPr>
        <p:spPr>
          <a:xfrm>
            <a:off x="617040" y="3845520"/>
            <a:ext cx="25016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29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c2c4b5"/>
                </a:solidFill>
                <a:effectLst/>
                <a:highlight>
                  <a:srgbClr val="292a2c"/>
                </a:highlight>
                <a:uFillTx/>
                <a:latin typeface="CMU Concrete"/>
                <a:ea typeface="Consolas"/>
              </a:rPr>
              <a:t>Build.bat</a:t>
            </a:r>
            <a:endParaRPr b="0" lang="ru-RU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9"/>
          <p:cNvSpPr/>
          <p:nvPr/>
        </p:nvSpPr>
        <p:spPr>
          <a:xfrm>
            <a:off x="2899440" y="3845520"/>
            <a:ext cx="380196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29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Скрипт сборки (требует MinGW gcc)</a:t>
            </a:r>
            <a:endParaRPr b="0" lang="ru-RU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0"/>
          <p:cNvSpPr/>
          <p:nvPr/>
        </p:nvSpPr>
        <p:spPr>
          <a:xfrm>
            <a:off x="6481800" y="3845520"/>
            <a:ext cx="250164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29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Компилирует все C-файлы в .exe</a:t>
            </a:r>
            <a:endParaRPr b="0" lang="ru-RU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21"/>
          <p:cNvSpPr/>
          <p:nvPr/>
        </p:nvSpPr>
        <p:spPr>
          <a:xfrm>
            <a:off x="496080" y="4227840"/>
            <a:ext cx="8151480" cy="438840"/>
          </a:xfrm>
          <a:prstGeom prst="roundRect">
            <a:avLst>
              <a:gd name="adj" fmla="val 3972"/>
            </a:avLst>
          </a:prstGeom>
          <a:solidFill>
            <a:srgbClr val="474a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" name="Image 0" descr="preencoded.png"/>
          <p:cNvPicPr/>
          <p:nvPr/>
        </p:nvPicPr>
        <p:blipFill>
          <a:blip r:embed="rId1"/>
          <a:stretch/>
        </p:blipFill>
        <p:spPr>
          <a:xfrm>
            <a:off x="612360" y="4390560"/>
            <a:ext cx="145080" cy="11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Text 22"/>
          <p:cNvSpPr/>
          <p:nvPr/>
        </p:nvSpPr>
        <p:spPr>
          <a:xfrm>
            <a:off x="874080" y="4354920"/>
            <a:ext cx="811440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29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Bitter Bold"/>
                <a:ea typeface="Bitter Bold"/>
              </a:rPr>
              <a:t>Важно:</a:t>
            </a: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Bitter"/>
                <a:ea typeface="Bitter"/>
              </a:rPr>
              <a:t> Для корректной работы планировщика задач </a:t>
            </a:r>
            <a:r>
              <a:rPr b="0" lang="en-US" sz="900" strike="noStrike" u="none">
                <a:solidFill>
                  <a:srgbClr val="c2c4b5"/>
                </a:solidFill>
                <a:effectLst/>
                <a:highlight>
                  <a:srgbClr val="292a2c"/>
                </a:highlight>
                <a:uFillTx/>
                <a:latin typeface="CMU Concrete"/>
                <a:ea typeface="Consolas"/>
              </a:rPr>
              <a:t>alarm_managere.exe</a:t>
            </a: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Bitter"/>
                <a:ea typeface="Bitter"/>
              </a:rPr>
              <a:t> необходимо запускать </a:t>
            </a: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Bitter Bold"/>
                <a:ea typeface="Bitter Bold"/>
              </a:rPr>
              <a:t>от имени администратора</a:t>
            </a: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Bitter"/>
                <a:ea typeface="Bitter"/>
              </a:rPr>
              <a:t>.</a:t>
            </a:r>
            <a:endParaRPr b="0" lang="ru-RU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7920000" y="4860000"/>
            <a:ext cx="1224000" cy="28368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/>
          <p:nvPr/>
        </p:nvSpPr>
        <p:spPr>
          <a:xfrm>
            <a:off x="496080" y="351360"/>
            <a:ext cx="484020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e1e5cd"/>
                </a:solidFill>
                <a:effectLst/>
                <a:uFillTx/>
                <a:latin typeface="Outfit Bold"/>
                <a:ea typeface="Outfit Bold"/>
              </a:rPr>
              <a:t>Архитектура и логика работы</a:t>
            </a:r>
            <a:endParaRPr b="0" lang="ru-RU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"/>
          <p:cNvSpPr/>
          <p:nvPr/>
        </p:nvSpPr>
        <p:spPr>
          <a:xfrm>
            <a:off x="7020000" y="4221720"/>
            <a:ext cx="118980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c2c4b5"/>
                </a:solidFill>
                <a:effectLst/>
                <a:uFillTx/>
                <a:latin typeface="Outfit Bold"/>
                <a:ea typeface="Outfit Bold"/>
              </a:rPr>
              <a:t>Удаление записи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"/>
          <p:cNvSpPr/>
          <p:nvPr/>
        </p:nvSpPr>
        <p:spPr>
          <a:xfrm>
            <a:off x="5470200" y="4221720"/>
            <a:ext cx="118980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c2c4b5"/>
                </a:solidFill>
                <a:effectLst/>
                <a:uFillTx/>
                <a:latin typeface="Outfit Bold"/>
                <a:ea typeface="Outfit Bold"/>
              </a:rPr>
              <a:t>MessageBox и ожидание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4"/>
          <p:cNvSpPr/>
          <p:nvPr/>
        </p:nvSpPr>
        <p:spPr>
          <a:xfrm>
            <a:off x="4030200" y="4221720"/>
            <a:ext cx="118980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c2c4b5"/>
                </a:solidFill>
                <a:effectLst/>
                <a:uFillTx/>
                <a:latin typeface="Outfit Bold"/>
                <a:ea typeface="Outfit Bold"/>
              </a:rPr>
              <a:t>Запуск trigger.exe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5"/>
          <p:cNvSpPr/>
          <p:nvPr/>
        </p:nvSpPr>
        <p:spPr>
          <a:xfrm>
            <a:off x="2520000" y="4221720"/>
            <a:ext cx="118980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c2c4b5"/>
                </a:solidFill>
                <a:effectLst/>
                <a:uFillTx/>
                <a:latin typeface="Outfit Bold"/>
                <a:ea typeface="Outfit Bold"/>
              </a:rPr>
              <a:t>Запись и schtasks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6"/>
          <p:cNvSpPr/>
          <p:nvPr/>
        </p:nvSpPr>
        <p:spPr>
          <a:xfrm>
            <a:off x="970200" y="4451040"/>
            <a:ext cx="11898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c2c4b5"/>
                </a:solidFill>
                <a:effectLst/>
                <a:uFillTx/>
                <a:latin typeface="Outfit Bold"/>
                <a:ea typeface="Outfit Bold"/>
              </a:rPr>
              <a:t>Добавление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7920000" y="4860000"/>
            <a:ext cx="1224000" cy="28368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" name="" descr=""/>
          <p:cNvPicPr/>
          <p:nvPr/>
        </p:nvPicPr>
        <p:blipFill>
          <a:blip r:embed="rId1"/>
          <a:stretch/>
        </p:blipFill>
        <p:spPr>
          <a:xfrm>
            <a:off x="360000" y="720000"/>
            <a:ext cx="8640000" cy="3501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/>
          <p:cNvSpPr/>
          <p:nvPr/>
        </p:nvSpPr>
        <p:spPr>
          <a:xfrm>
            <a:off x="496080" y="391680"/>
            <a:ext cx="456552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e1e5cd"/>
                </a:solidFill>
                <a:effectLst/>
                <a:uFillTx/>
                <a:latin typeface="Outfit Bold"/>
                <a:ea typeface="Outfit Bold"/>
              </a:rPr>
              <a:t>Техническая реализация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"/>
          <p:cNvSpPr/>
          <p:nvPr/>
        </p:nvSpPr>
        <p:spPr>
          <a:xfrm>
            <a:off x="496080" y="1089360"/>
            <a:ext cx="200736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e1e5cd"/>
                </a:solidFill>
                <a:effectLst/>
                <a:uFillTx/>
                <a:latin typeface="Outfit Bold"/>
                <a:ea typeface="Outfit Bold"/>
              </a:rPr>
              <a:t>База данных SQLite</a:t>
            </a:r>
            <a:endParaRPr b="0" lang="ru-RU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"/>
          <p:cNvSpPr/>
          <p:nvPr/>
        </p:nvSpPr>
        <p:spPr>
          <a:xfrm>
            <a:off x="496080" y="1407240"/>
            <a:ext cx="4381560" cy="2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Таблица </a:t>
            </a:r>
            <a:r>
              <a:rPr b="0" lang="en-US" sz="950" strike="noStrike" u="none">
                <a:solidFill>
                  <a:srgbClr val="c2c4b5"/>
                </a:solidFill>
                <a:effectLst/>
                <a:highlight>
                  <a:srgbClr val="292a2c"/>
                </a:highlight>
                <a:uFillTx/>
                <a:latin typeface="CMU Concrete"/>
                <a:ea typeface="Consolas"/>
              </a:rPr>
              <a:t>alarms</a:t>
            </a:r>
            <a:r>
              <a:rPr b="0" lang="en-US" sz="95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 хранит все данные о будильниках:</a:t>
            </a:r>
            <a:endParaRPr b="0" lang="ru-RU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3"/>
          <p:cNvSpPr/>
          <p:nvPr/>
        </p:nvSpPr>
        <p:spPr>
          <a:xfrm>
            <a:off x="496080" y="1721880"/>
            <a:ext cx="3924360" cy="143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192960" indent="-192960" defTabSz="914400">
              <a:lnSpc>
                <a:spcPct val="133000"/>
              </a:lnSpc>
              <a:buClr>
                <a:srgbClr val="c2c4b5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c2c4b5"/>
                </a:solidFill>
                <a:effectLst/>
                <a:uFillTx/>
                <a:latin typeface="Bitter"/>
              </a:rPr>
              <a:t>id</a:t>
            </a:r>
            <a:r>
              <a:rPr b="0" lang="en-US" sz="95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 — PRIMARY KEY AUTOINCREMENT</a:t>
            </a:r>
            <a:endParaRPr b="0" lang="ru-RU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92960" indent="-192960" defTabSz="914400">
              <a:lnSpc>
                <a:spcPct val="133000"/>
              </a:lnSpc>
              <a:buClr>
                <a:srgbClr val="c2c4b5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c2c4b5"/>
                </a:solidFill>
                <a:effectLst/>
                <a:highlight>
                  <a:srgbClr val="292a2c"/>
                </a:highlight>
                <a:uFillTx/>
                <a:latin typeface="CMU Concrete"/>
                <a:ea typeface="Consolas"/>
              </a:rPr>
              <a:t>time</a:t>
            </a:r>
            <a:r>
              <a:rPr b="0" lang="en-US" sz="95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 (TEXT) — время в формате HH:MM</a:t>
            </a:r>
            <a:endParaRPr b="0" lang="ru-RU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92960" indent="-192960" defTabSz="914400">
              <a:lnSpc>
                <a:spcPct val="133000"/>
              </a:lnSpc>
              <a:buClr>
                <a:srgbClr val="c2c4b5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c2c4b5"/>
                </a:solidFill>
                <a:effectLst/>
                <a:highlight>
                  <a:srgbClr val="292a2c"/>
                </a:highlight>
                <a:uFillTx/>
                <a:latin typeface="CMU Concrete"/>
                <a:ea typeface="Consolas"/>
              </a:rPr>
              <a:t>note</a:t>
            </a:r>
            <a:r>
              <a:rPr b="0" lang="en-US" sz="95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 (TEXT) — пользовательская заметка</a:t>
            </a:r>
            <a:endParaRPr b="0" lang="ru-RU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92960" indent="-192960" defTabSz="914400">
              <a:lnSpc>
                <a:spcPct val="133000"/>
              </a:lnSpc>
              <a:buClr>
                <a:srgbClr val="c2c4b5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c2c4b5"/>
                </a:solidFill>
                <a:effectLst/>
                <a:highlight>
                  <a:srgbClr val="292a2c"/>
                </a:highlight>
                <a:uFillTx/>
                <a:latin typeface="CMU Concrete"/>
                <a:ea typeface="Consolas"/>
              </a:rPr>
              <a:t>is_recurring</a:t>
            </a:r>
            <a:r>
              <a:rPr b="0" lang="en-US" sz="95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 (0/1) — тип будильника</a:t>
            </a:r>
            <a:endParaRPr b="0" lang="ru-RU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92960" indent="-192960" defTabSz="914400">
              <a:lnSpc>
                <a:spcPct val="133000"/>
              </a:lnSpc>
              <a:buClr>
                <a:srgbClr val="c2c4b5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c2c4b5"/>
                </a:solidFill>
                <a:effectLst/>
                <a:highlight>
                  <a:srgbClr val="292a2c"/>
                </a:highlight>
                <a:uFillTx/>
                <a:latin typeface="CMU Concrete"/>
                <a:ea typeface="Consolas"/>
              </a:rPr>
              <a:t>task_name</a:t>
            </a:r>
            <a:r>
              <a:rPr b="0" lang="en-US" sz="95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 (UNIQUE) — имя задачи в планировщике</a:t>
            </a:r>
            <a:endParaRPr b="0" lang="ru-RU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92960" indent="-192960" defTabSz="914400">
              <a:lnSpc>
                <a:spcPct val="133000"/>
              </a:lnSpc>
              <a:buClr>
                <a:srgbClr val="c2c4b5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c2c4b5"/>
                </a:solidFill>
                <a:effectLst/>
                <a:highlight>
                  <a:srgbClr val="292a2c"/>
                </a:highlight>
                <a:uFillTx/>
                <a:latin typeface="CMU Concrete"/>
                <a:ea typeface="Consolas"/>
              </a:rPr>
              <a:t>enabled</a:t>
            </a:r>
            <a:r>
              <a:rPr b="0" lang="en-US" sz="95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 (DEFAULT 1) — флаг активности</a:t>
            </a:r>
            <a:endParaRPr b="0" lang="ru-RU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4"/>
          <p:cNvSpPr/>
          <p:nvPr/>
        </p:nvSpPr>
        <p:spPr>
          <a:xfrm>
            <a:off x="496080" y="3282120"/>
            <a:ext cx="305280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e1e5cd"/>
                </a:solidFill>
                <a:effectLst/>
                <a:uFillTx/>
                <a:latin typeface="Outfit Bold"/>
                <a:ea typeface="Outfit Bold"/>
              </a:rPr>
              <a:t>Планировщик Windows (schtasks)</a:t>
            </a:r>
            <a:endParaRPr b="0" lang="ru-RU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5"/>
          <p:cNvSpPr/>
          <p:nvPr/>
        </p:nvSpPr>
        <p:spPr>
          <a:xfrm>
            <a:off x="496080" y="3600000"/>
            <a:ext cx="3924360" cy="44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192960" indent="-192960" defTabSz="914400">
              <a:lnSpc>
                <a:spcPct val="133000"/>
              </a:lnSpc>
              <a:buClr>
                <a:srgbClr val="c2c4b5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Ежедневные: </a:t>
            </a:r>
            <a:r>
              <a:rPr b="0" lang="en-US" sz="950" strike="noStrike" u="none">
                <a:solidFill>
                  <a:srgbClr val="c2c4b5"/>
                </a:solidFill>
                <a:effectLst/>
                <a:highlight>
                  <a:srgbClr val="292a2c"/>
                </a:highlight>
                <a:uFillTx/>
                <a:latin typeface="CMU Concrete"/>
                <a:ea typeface="Consolas"/>
              </a:rPr>
              <a:t>/sc daily /st HH:MM</a:t>
            </a:r>
            <a:endParaRPr b="0" lang="ru-RU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92960" indent="-192960" defTabSz="914400">
              <a:lnSpc>
                <a:spcPct val="133000"/>
              </a:lnSpc>
              <a:buClr>
                <a:srgbClr val="c2c4b5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Разовые: </a:t>
            </a:r>
            <a:r>
              <a:rPr b="0" lang="en-US" sz="950" strike="noStrike" u="none">
                <a:solidFill>
                  <a:srgbClr val="c2c4b5"/>
                </a:solidFill>
                <a:effectLst/>
                <a:highlight>
                  <a:srgbClr val="292a2c"/>
                </a:highlight>
                <a:uFillTx/>
                <a:latin typeface="Consolas"/>
                <a:ea typeface="Consolas"/>
              </a:rPr>
              <a:t>/</a:t>
            </a:r>
            <a:r>
              <a:rPr b="0" lang="en-US" sz="950" strike="noStrike" u="none">
                <a:solidFill>
                  <a:srgbClr val="c2c4b5"/>
                </a:solidFill>
                <a:effectLst/>
                <a:highlight>
                  <a:srgbClr val="292a2c"/>
                </a:highlight>
                <a:uFillTx/>
                <a:latin typeface="CMU Concrete"/>
                <a:ea typeface="Consolas"/>
              </a:rPr>
              <a:t>sc once /sd YYYY-MM-DD /st HH:MM</a:t>
            </a:r>
            <a:endParaRPr b="0" lang="ru-RU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6"/>
          <p:cNvSpPr/>
          <p:nvPr/>
        </p:nvSpPr>
        <p:spPr>
          <a:xfrm>
            <a:off x="4727880" y="1089360"/>
            <a:ext cx="200736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e1e5cd"/>
                </a:solidFill>
                <a:effectLst/>
                <a:uFillTx/>
                <a:latin typeface="Outfit Bold"/>
                <a:ea typeface="Outfit Bold"/>
              </a:rPr>
              <a:t>Таймер (timer.c)</a:t>
            </a:r>
            <a:endParaRPr b="0" lang="ru-RU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7"/>
          <p:cNvSpPr/>
          <p:nvPr/>
        </p:nvSpPr>
        <p:spPr>
          <a:xfrm>
            <a:off x="4727880" y="1407240"/>
            <a:ext cx="3924360" cy="5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Принимает время в минутах или формате HH:MM. Ведёт обратный отсчёт через </a:t>
            </a:r>
            <a:r>
              <a:rPr b="0" lang="en-US" sz="950" strike="noStrike" u="none">
                <a:solidFill>
                  <a:srgbClr val="c2c4b5"/>
                </a:solidFill>
                <a:effectLst/>
                <a:highlight>
                  <a:srgbClr val="292a2c"/>
                </a:highlight>
                <a:uFillTx/>
                <a:latin typeface="Consolas"/>
                <a:ea typeface="Consolas"/>
              </a:rPr>
              <a:t>printf</a:t>
            </a:r>
            <a:r>
              <a:rPr b="0" lang="en-US" sz="95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, по окончании показывает MessageBox и ждёт ввода «stop».</a:t>
            </a:r>
            <a:endParaRPr b="0" lang="ru-RU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8"/>
          <p:cNvSpPr/>
          <p:nvPr/>
        </p:nvSpPr>
        <p:spPr>
          <a:xfrm>
            <a:off x="4727880" y="2131200"/>
            <a:ext cx="223416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e1e5cd"/>
                </a:solidFill>
                <a:effectLst/>
                <a:uFillTx/>
                <a:latin typeface="Outfit Bold"/>
                <a:ea typeface="Outfit Bold"/>
              </a:rPr>
              <a:t>Пример чтения ввода</a:t>
            </a:r>
            <a:endParaRPr b="0" lang="ru-RU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9"/>
          <p:cNvSpPr/>
          <p:nvPr/>
        </p:nvSpPr>
        <p:spPr>
          <a:xfrm>
            <a:off x="4727880" y="2464560"/>
            <a:ext cx="3924360" cy="843120"/>
          </a:xfrm>
          <a:prstGeom prst="roundRect">
            <a:avLst>
              <a:gd name="adj" fmla="val 2206"/>
            </a:avLst>
          </a:prstGeom>
          <a:solidFill>
            <a:srgbClr val="292a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0"/>
          <p:cNvSpPr/>
          <p:nvPr/>
        </p:nvSpPr>
        <p:spPr>
          <a:xfrm>
            <a:off x="4721760" y="2464560"/>
            <a:ext cx="3936600" cy="843120"/>
          </a:xfrm>
          <a:prstGeom prst="roundRect">
            <a:avLst>
              <a:gd name="adj" fmla="val 2206"/>
            </a:avLst>
          </a:prstGeom>
          <a:solidFill>
            <a:srgbClr val="292a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2"/>
          <p:cNvSpPr/>
          <p:nvPr/>
        </p:nvSpPr>
        <p:spPr>
          <a:xfrm>
            <a:off x="4727880" y="3447360"/>
            <a:ext cx="230220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e1e5cd"/>
                </a:solidFill>
                <a:effectLst/>
                <a:uFillTx/>
                <a:latin typeface="Outfit Bold"/>
                <a:ea typeface="Outfit Bold"/>
              </a:rPr>
              <a:t>Структура исходников</a:t>
            </a:r>
            <a:endParaRPr b="0" lang="ru-RU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3"/>
          <p:cNvSpPr/>
          <p:nvPr/>
        </p:nvSpPr>
        <p:spPr>
          <a:xfrm>
            <a:off x="4727880" y="3765240"/>
            <a:ext cx="3924360" cy="9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192960" indent="-192960" defTabSz="914400">
              <a:lnSpc>
                <a:spcPct val="133000"/>
              </a:lnSpc>
              <a:buClr>
                <a:srgbClr val="c2c4b5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c2c4b5"/>
                </a:solidFill>
                <a:effectLst/>
                <a:highlight>
                  <a:srgbClr val="292a2c"/>
                </a:highlight>
                <a:uFillTx/>
                <a:latin typeface="Consolas"/>
                <a:ea typeface="Consolas"/>
              </a:rPr>
              <a:t>alarm_common.c/h</a:t>
            </a:r>
            <a:r>
              <a:rPr b="0" lang="en-US" sz="95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 — общие функции DB и schtasks</a:t>
            </a:r>
            <a:endParaRPr b="0" lang="ru-RU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92960" indent="-192960" defTabSz="914400">
              <a:lnSpc>
                <a:spcPct val="133000"/>
              </a:lnSpc>
              <a:buClr>
                <a:srgbClr val="c2c4b5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c2c4b5"/>
                </a:solidFill>
                <a:effectLst/>
                <a:highlight>
                  <a:srgbClr val="292a2c"/>
                </a:highlight>
                <a:uFillTx/>
                <a:latin typeface="Consolas"/>
                <a:ea typeface="Consolas"/>
              </a:rPr>
              <a:t>alarm_manager.c</a:t>
            </a:r>
            <a:r>
              <a:rPr b="0" lang="en-US" sz="95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 — главное меню</a:t>
            </a:r>
            <a:endParaRPr b="0" lang="ru-RU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92960" indent="-192960" defTabSz="914400">
              <a:lnSpc>
                <a:spcPct val="133000"/>
              </a:lnSpc>
              <a:buClr>
                <a:srgbClr val="c2c4b5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c2c4b5"/>
                </a:solidFill>
                <a:effectLst/>
                <a:highlight>
                  <a:srgbClr val="292a2c"/>
                </a:highlight>
                <a:uFillTx/>
                <a:latin typeface="Consolas"/>
                <a:ea typeface="Consolas"/>
              </a:rPr>
              <a:t>trigger.c</a:t>
            </a:r>
            <a:r>
              <a:rPr b="0" lang="en-US" sz="95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 — логика срабатывания</a:t>
            </a:r>
            <a:endParaRPr b="0" lang="ru-RU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92960" indent="-192960" defTabSz="914400">
              <a:lnSpc>
                <a:spcPct val="133000"/>
              </a:lnSpc>
              <a:buClr>
                <a:srgbClr val="c2c4b5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c2c4b5"/>
                </a:solidFill>
                <a:effectLst/>
                <a:highlight>
                  <a:srgbClr val="292a2c"/>
                </a:highlight>
                <a:uFillTx/>
                <a:latin typeface="Consolas"/>
                <a:ea typeface="Consolas"/>
              </a:rPr>
              <a:t>timer.c</a:t>
            </a:r>
            <a:r>
              <a:rPr b="0" lang="en-US" sz="95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 — обратный отсчёт</a:t>
            </a:r>
            <a:endParaRPr b="0" lang="ru-RU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7920000" y="4860000"/>
            <a:ext cx="1224000" cy="28368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1" name="" descr=""/>
          <p:cNvPicPr/>
          <p:nvPr/>
        </p:nvPicPr>
        <p:blipFill>
          <a:blip r:embed="rId1"/>
          <a:stretch/>
        </p:blipFill>
        <p:spPr>
          <a:xfrm>
            <a:off x="4680000" y="2067120"/>
            <a:ext cx="4320000" cy="1380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/>
          <p:nvPr/>
        </p:nvSpPr>
        <p:spPr>
          <a:xfrm>
            <a:off x="496080" y="382680"/>
            <a:ext cx="381024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e1e5cd"/>
                </a:solidFill>
                <a:effectLst/>
                <a:uFillTx/>
                <a:latin typeface="Outfit Bold"/>
                <a:ea typeface="Outfit Bold"/>
              </a:rPr>
              <a:t>Сборка, запуск и выводы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"/>
          <p:cNvSpPr/>
          <p:nvPr/>
        </p:nvSpPr>
        <p:spPr>
          <a:xfrm>
            <a:off x="422280" y="830880"/>
            <a:ext cx="4098240" cy="2774880"/>
          </a:xfrm>
          <a:prstGeom prst="roundRect">
            <a:avLst>
              <a:gd name="adj" fmla="val 555"/>
            </a:avLst>
          </a:prstGeom>
          <a:solidFill>
            <a:srgbClr val="9fa5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"/>
          <p:cNvSpPr/>
          <p:nvPr/>
        </p:nvSpPr>
        <p:spPr>
          <a:xfrm>
            <a:off x="524880" y="916200"/>
            <a:ext cx="17409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00000"/>
                </a:solidFill>
                <a:effectLst/>
                <a:uFillTx/>
                <a:latin typeface="Outfit Bold"/>
                <a:ea typeface="Outfit Bold"/>
              </a:rPr>
              <a:t>Как запустить</a:t>
            </a:r>
            <a:endParaRPr b="0" lang="ru-RU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3"/>
          <p:cNvSpPr/>
          <p:nvPr/>
        </p:nvSpPr>
        <p:spPr>
          <a:xfrm>
            <a:off x="524880" y="1161720"/>
            <a:ext cx="389268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162720" indent="-162720" defTabSz="914400">
              <a:lnSpc>
                <a:spcPct val="122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Bitter"/>
                <a:ea typeface="Bitter"/>
              </a:rPr>
              <a:t>Установить </a:t>
            </a: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Bitter Bold"/>
                <a:ea typeface="Bitter Bold"/>
              </a:rPr>
              <a:t>MinGW gcc</a:t>
            </a:r>
            <a:endParaRPr b="0" lang="ru-RU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62720" indent="-162720" defTabSz="914400">
              <a:lnSpc>
                <a:spcPct val="122000"/>
              </a:lnSpc>
              <a:buClr>
                <a:srgbClr val="000000"/>
              </a:buClr>
              <a:buFont typeface="Calibri Light"/>
              <a:buAutoNum type="arabicPeriod" startAt="2"/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Bitter"/>
                <a:ea typeface="Bitter"/>
              </a:rPr>
              <a:t>Запустить </a:t>
            </a:r>
            <a:r>
              <a:rPr b="0" lang="en-US" sz="800" strike="noStrike" u="none">
                <a:solidFill>
                  <a:srgbClr val="000000"/>
                </a:solidFill>
                <a:effectLst/>
                <a:highlight>
                  <a:srgbClr val="929875"/>
                </a:highlight>
                <a:uFillTx/>
                <a:latin typeface="Consolas"/>
                <a:ea typeface="Consolas"/>
              </a:rPr>
              <a:t>build.bat</a:t>
            </a: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Bitter"/>
                <a:ea typeface="Bitter"/>
              </a:rPr>
              <a:t> → .exe в </a:t>
            </a:r>
            <a:r>
              <a:rPr b="0" lang="en-US" sz="800" strike="noStrike" u="none">
                <a:solidFill>
                  <a:srgbClr val="000000"/>
                </a:solidFill>
                <a:effectLst/>
                <a:highlight>
                  <a:srgbClr val="929875"/>
                </a:highlight>
                <a:uFillTx/>
                <a:latin typeface="Consolas"/>
                <a:ea typeface="Consolas"/>
              </a:rPr>
              <a:t>CODE\run</a:t>
            </a:r>
            <a:endParaRPr b="0" lang="ru-RU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62720" indent="-162720" defTabSz="914400">
              <a:lnSpc>
                <a:spcPct val="122000"/>
              </a:lnSpc>
              <a:buClr>
                <a:srgbClr val="000000"/>
              </a:buClr>
              <a:buFont typeface="Calibri Light"/>
              <a:buAutoNum type="arabicPeriod" startAt="3"/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Bitter"/>
                <a:ea typeface="Bitter"/>
              </a:rPr>
              <a:t>Запустить </a:t>
            </a:r>
            <a:r>
              <a:rPr b="0" lang="en-US" sz="800" strike="noStrike" u="none">
                <a:solidFill>
                  <a:srgbClr val="000000"/>
                </a:solidFill>
                <a:effectLst/>
                <a:highlight>
                  <a:srgbClr val="929875"/>
                </a:highlight>
                <a:uFillTx/>
                <a:latin typeface="Consolas"/>
                <a:ea typeface="Consolas"/>
              </a:rPr>
              <a:t>alarm_manager.exe</a:t>
            </a: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Bitter"/>
                <a:ea typeface="Bitter"/>
              </a:rPr>
              <a:t> </a:t>
            </a: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Bitter Bold"/>
                <a:ea typeface="Bitter Bold"/>
              </a:rPr>
              <a:t>от имени администратора</a:t>
            </a:r>
            <a:endParaRPr b="0" lang="ru-RU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62720" indent="-162720" defTabSz="914400">
              <a:lnSpc>
                <a:spcPct val="122000"/>
              </a:lnSpc>
              <a:buClr>
                <a:srgbClr val="000000"/>
              </a:buClr>
              <a:buFont typeface="Calibri Light"/>
              <a:buAutoNum type="arabicPeriod" startAt="4"/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Bitter"/>
                <a:ea typeface="Bitter"/>
              </a:rPr>
              <a:t>Меню: 1 — Добавить, 2 — Список, 3 — Удалить, 4 — Таймер</a:t>
            </a:r>
            <a:endParaRPr b="0" lang="ru-RU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4"/>
          <p:cNvSpPr/>
          <p:nvPr/>
        </p:nvSpPr>
        <p:spPr>
          <a:xfrm>
            <a:off x="4701960" y="916200"/>
            <a:ext cx="17409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e1e5cd"/>
                </a:solidFill>
                <a:effectLst/>
                <a:uFillTx/>
                <a:latin typeface="Outfit Bold"/>
                <a:ea typeface="Outfit Bold"/>
              </a:rPr>
              <a:t>Итоги проекта</a:t>
            </a:r>
            <a:endParaRPr b="0" lang="ru-RU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5"/>
          <p:cNvSpPr/>
          <p:nvPr/>
        </p:nvSpPr>
        <p:spPr>
          <a:xfrm>
            <a:off x="4701960" y="1172160"/>
            <a:ext cx="1932480" cy="901080"/>
          </a:xfrm>
          <a:prstGeom prst="roundRect">
            <a:avLst>
              <a:gd name="adj" fmla="val 1709"/>
            </a:avLst>
          </a:prstGeom>
          <a:solidFill>
            <a:srgbClr val="3b3c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6"/>
          <p:cNvSpPr/>
          <p:nvPr/>
        </p:nvSpPr>
        <p:spPr>
          <a:xfrm>
            <a:off x="4804920" y="1275120"/>
            <a:ext cx="12837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c2c4b5"/>
                </a:solidFill>
                <a:effectLst/>
                <a:uFillTx/>
                <a:latin typeface="Outfit Bold"/>
                <a:ea typeface="Outfit Bold"/>
              </a:rPr>
              <a:t>Простота</a:t>
            </a:r>
            <a:endParaRPr b="0" lang="ru-RU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7"/>
          <p:cNvSpPr/>
          <p:nvPr/>
        </p:nvSpPr>
        <p:spPr>
          <a:xfrm>
            <a:off x="4804920" y="1520640"/>
            <a:ext cx="1726920" cy="45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Нет GUI, только консоль — минимум зависимостей, максимум понятности кода</a:t>
            </a:r>
            <a:endParaRPr b="0" lang="ru-RU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8"/>
          <p:cNvSpPr/>
          <p:nvPr/>
        </p:nvSpPr>
        <p:spPr>
          <a:xfrm>
            <a:off x="6719760" y="1172160"/>
            <a:ext cx="1932480" cy="901080"/>
          </a:xfrm>
          <a:prstGeom prst="roundRect">
            <a:avLst>
              <a:gd name="adj" fmla="val 1709"/>
            </a:avLst>
          </a:prstGeom>
          <a:solidFill>
            <a:srgbClr val="3b3c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9"/>
          <p:cNvSpPr/>
          <p:nvPr/>
        </p:nvSpPr>
        <p:spPr>
          <a:xfrm>
            <a:off x="6822720" y="1275120"/>
            <a:ext cx="12837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c2c4b5"/>
                </a:solidFill>
                <a:effectLst/>
                <a:uFillTx/>
                <a:latin typeface="Outfit Bold"/>
                <a:ea typeface="Outfit Bold"/>
              </a:rPr>
              <a:t>Надёжность</a:t>
            </a:r>
            <a:endParaRPr b="0" lang="ru-RU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0"/>
          <p:cNvSpPr/>
          <p:nvPr/>
        </p:nvSpPr>
        <p:spPr>
          <a:xfrm>
            <a:off x="6822720" y="1520640"/>
            <a:ext cx="1726920" cy="45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Планировщик Windows гарантирует запуск даже если приложение закрыто</a:t>
            </a:r>
            <a:endParaRPr b="0" lang="ru-RU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1"/>
          <p:cNvSpPr/>
          <p:nvPr/>
        </p:nvSpPr>
        <p:spPr>
          <a:xfrm>
            <a:off x="4701960" y="2158920"/>
            <a:ext cx="3950280" cy="750960"/>
          </a:xfrm>
          <a:prstGeom prst="roundRect">
            <a:avLst>
              <a:gd name="adj" fmla="val 2051"/>
            </a:avLst>
          </a:prstGeom>
          <a:solidFill>
            <a:srgbClr val="3b3c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2"/>
          <p:cNvSpPr/>
          <p:nvPr/>
        </p:nvSpPr>
        <p:spPr>
          <a:xfrm>
            <a:off x="4804920" y="2261520"/>
            <a:ext cx="12837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c2c4b5"/>
                </a:solidFill>
                <a:effectLst/>
                <a:uFillTx/>
                <a:latin typeface="Outfit Bold"/>
                <a:ea typeface="Outfit Bold"/>
              </a:rPr>
              <a:t>Обучение</a:t>
            </a:r>
            <a:endParaRPr b="0" lang="ru-RU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3"/>
          <p:cNvSpPr/>
          <p:nvPr/>
        </p:nvSpPr>
        <p:spPr>
          <a:xfrm>
            <a:off x="4804920" y="2507040"/>
            <a:ext cx="374472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Отличный пример Win32 API + SQLite + автоматизация задач в одном проекте</a:t>
            </a:r>
            <a:endParaRPr b="0" lang="ru-RU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4"/>
          <p:cNvSpPr/>
          <p:nvPr/>
        </p:nvSpPr>
        <p:spPr>
          <a:xfrm>
            <a:off x="4701960" y="3005640"/>
            <a:ext cx="3950280" cy="504360"/>
          </a:xfrm>
          <a:prstGeom prst="roundRect">
            <a:avLst>
              <a:gd name="adj" fmla="val 3053"/>
            </a:avLst>
          </a:prstGeom>
          <a:solidFill>
            <a:srgbClr val="474a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7" name="Image 0" descr="preencoded.png"/>
          <p:cNvPicPr/>
          <p:nvPr/>
        </p:nvPicPr>
        <p:blipFill>
          <a:blip r:embed="rId1"/>
          <a:stretch/>
        </p:blipFill>
        <p:spPr>
          <a:xfrm>
            <a:off x="4804920" y="3148920"/>
            <a:ext cx="128160" cy="10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 15"/>
          <p:cNvSpPr/>
          <p:nvPr/>
        </p:nvSpPr>
        <p:spPr>
          <a:xfrm>
            <a:off x="5035680" y="3107880"/>
            <a:ext cx="351360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ffffff"/>
                </a:solidFill>
                <a:effectLst/>
                <a:uFillTx/>
                <a:latin typeface="Bitter Bold"/>
                <a:ea typeface="Bitter Bold"/>
              </a:rPr>
              <a:t>Возможные улучшения:</a:t>
            </a: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Bitter"/>
                <a:ea typeface="Bitter"/>
              </a:rPr>
              <a:t> GUI на Qt/WinAPI, звук через WaveOut, экспорт в Excel, поддержка нескольких звуковых сигналов.</a:t>
            </a:r>
            <a:endParaRPr b="0" lang="ru-RU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6"/>
          <p:cNvSpPr/>
          <p:nvPr/>
        </p:nvSpPr>
        <p:spPr>
          <a:xfrm>
            <a:off x="496080" y="3727440"/>
            <a:ext cx="8151480" cy="4320"/>
          </a:xfrm>
          <a:prstGeom prst="roundRect">
            <a:avLst>
              <a:gd name="adj" fmla="val 179981"/>
            </a:avLst>
          </a:prstGeom>
          <a:solidFill>
            <a:srgbClr val="c2c4b5">
              <a:alpha val="50000"/>
            </a:srgbClr>
          </a:solidFill>
          <a:ln w="4763">
            <a:solidFill>
              <a:srgbClr val="dfdf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1400" bIns="-414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7"/>
          <p:cNvSpPr/>
          <p:nvPr/>
        </p:nvSpPr>
        <p:spPr>
          <a:xfrm>
            <a:off x="496080" y="3885480"/>
            <a:ext cx="17409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e1e5cd"/>
                </a:solidFill>
                <a:effectLst/>
                <a:uFillTx/>
                <a:latin typeface="Outfit Bold"/>
                <a:ea typeface="Outfit Bold"/>
              </a:rPr>
              <a:t>Примеры работы</a:t>
            </a:r>
            <a:endParaRPr b="0" lang="ru-RU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8"/>
          <p:cNvSpPr/>
          <p:nvPr/>
        </p:nvSpPr>
        <p:spPr>
          <a:xfrm>
            <a:off x="496080" y="4173480"/>
            <a:ext cx="81514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lnSpcReduction="9999"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c2c4b5"/>
                </a:solidFill>
                <a:effectLst/>
                <a:uFillTx/>
                <a:latin typeface="Bitter Bold"/>
                <a:ea typeface="Bitter Bold"/>
              </a:rPr>
              <a:t>Репозиторий:</a:t>
            </a:r>
            <a:r>
              <a:rPr b="0" lang="en-US" sz="80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 </a:t>
            </a:r>
            <a:r>
              <a:rPr b="1" lang="en-US" sz="800" strike="noStrike" u="sng">
                <a:solidFill>
                  <a:srgbClr val="9fa582"/>
                </a:solidFill>
                <a:effectLst/>
                <a:uFillTx/>
                <a:latin typeface="Bitter Bold"/>
                <a:ea typeface="Bitter Bold"/>
                <a:hlinkClick r:id="rId2"/>
              </a:rPr>
              <a:t>github.com/Zipoo-i/alarm</a:t>
            </a:r>
            <a:r>
              <a:rPr b="0" lang="en-US" sz="80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 — исходники в </a:t>
            </a:r>
            <a:r>
              <a:rPr b="0" lang="en-US" sz="800" strike="noStrike" u="none">
                <a:solidFill>
                  <a:srgbClr val="c2c4b5"/>
                </a:solidFill>
                <a:effectLst/>
                <a:highlight>
                  <a:srgbClr val="292a2c"/>
                </a:highlight>
                <a:uFillTx/>
                <a:latin typeface="CMU Concrete"/>
                <a:ea typeface="Consolas"/>
              </a:rPr>
              <a:t>alarm/CODE</a:t>
            </a:r>
            <a:r>
              <a:rPr b="0" lang="en-US" sz="80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, документация в </a:t>
            </a:r>
            <a:r>
              <a:rPr b="0" lang="en-US" sz="800" strike="noStrike" u="none">
                <a:solidFill>
                  <a:srgbClr val="c2c4b5"/>
                </a:solidFill>
                <a:effectLst/>
                <a:highlight>
                  <a:srgbClr val="292a2c"/>
                </a:highlight>
                <a:uFillTx/>
                <a:latin typeface="Consolas"/>
                <a:ea typeface="Consolas"/>
              </a:rPr>
              <a:t>README.md</a:t>
            </a:r>
            <a:r>
              <a:rPr b="0" lang="en-US" sz="80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 и </a:t>
            </a:r>
            <a:r>
              <a:rPr b="0" lang="en-US" sz="800" strike="noStrike" u="none">
                <a:solidFill>
                  <a:srgbClr val="c2c4b5"/>
                </a:solidFill>
                <a:effectLst/>
                <a:highlight>
                  <a:srgbClr val="292a2c"/>
                </a:highlight>
                <a:uFillTx/>
                <a:latin typeface="Consolas"/>
                <a:ea typeface="Consolas"/>
              </a:rPr>
              <a:t>README.txt</a:t>
            </a:r>
            <a:r>
              <a:rPr b="0" lang="en-US" sz="80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. Видео-пример срабатывания приложен к репозиторию.</a:t>
            </a:r>
            <a:endParaRPr b="0" lang="ru-RU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9"/>
          <p:cNvSpPr/>
          <p:nvPr/>
        </p:nvSpPr>
        <p:spPr>
          <a:xfrm>
            <a:off x="496080" y="4579200"/>
            <a:ext cx="903600" cy="181440"/>
          </a:xfrm>
          <a:prstGeom prst="roundRect">
            <a:avLst>
              <a:gd name="adj" fmla="val 6784"/>
            </a:avLst>
          </a:prstGeom>
          <a:solidFill>
            <a:srgbClr val="2a2c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20"/>
          <p:cNvSpPr/>
          <p:nvPr/>
        </p:nvSpPr>
        <p:spPr>
          <a:xfrm>
            <a:off x="557640" y="4628880"/>
            <a:ext cx="81720" cy="81720"/>
          </a:xfrm>
          <a:prstGeom prst="rect">
            <a:avLst/>
          </a:prstGeom>
          <a:solidFill>
            <a:srgbClr val="c2c4b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7080" bIns="3708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1"/>
          <p:cNvSpPr/>
          <p:nvPr/>
        </p:nvSpPr>
        <p:spPr>
          <a:xfrm>
            <a:off x="681120" y="4609800"/>
            <a:ext cx="1114200" cy="1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en-US" sz="600" strike="noStrike" u="none">
                <a:solidFill>
                  <a:srgbClr val="c2c4b5"/>
                </a:solidFill>
                <a:effectLst/>
                <a:uFillTx/>
                <a:latin typeface="Bitter"/>
                <a:ea typeface="Bitter"/>
              </a:rPr>
              <a:t>ZIPOO-I / ALARM</a:t>
            </a:r>
            <a:endParaRPr b="0" lang="ru-RU" sz="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2"/>
          <p:cNvSpPr/>
          <p:nvPr/>
        </p:nvSpPr>
        <p:spPr>
          <a:xfrm>
            <a:off x="1451520" y="4579200"/>
            <a:ext cx="1622520" cy="181440"/>
          </a:xfrm>
          <a:prstGeom prst="roundRect">
            <a:avLst>
              <a:gd name="adj" fmla="val 6784"/>
            </a:avLst>
          </a:prstGeom>
          <a:noFill/>
          <a:ln w="0">
            <a:noFill/>
          </a:ln>
          <a:effectLst>
            <a:outerShdw algn="bl" blurRad="101520" dir="16200000" dist="50760" kx="0" ky="0" rotWithShape="0" sx="100000" sy="100000">
              <a:srgbClr val="9fa58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3"/>
          <p:cNvSpPr/>
          <p:nvPr/>
        </p:nvSpPr>
        <p:spPr>
          <a:xfrm>
            <a:off x="1513080" y="4609800"/>
            <a:ext cx="1956600" cy="1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en-US" sz="600" strike="noStrike" u="none">
                <a:solidFill>
                  <a:srgbClr val="9fa582"/>
                </a:solidFill>
                <a:effectLst/>
                <a:uFillTx/>
                <a:latin typeface="Bitter"/>
                <a:ea typeface="Bitter"/>
              </a:rPr>
              <a:t>ПРОЕКТ ГОТОВ К ИСПОЛЬЗОВАНИЮ!</a:t>
            </a:r>
            <a:endParaRPr b="0" lang="ru-RU" sz="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7920000" y="4860000"/>
            <a:ext cx="1224000" cy="28368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8" name="" descr=""/>
          <p:cNvPicPr/>
          <p:nvPr/>
        </p:nvPicPr>
        <p:blipFill>
          <a:blip r:embed="rId3"/>
          <a:stretch/>
        </p:blipFill>
        <p:spPr>
          <a:xfrm>
            <a:off x="422280" y="1800000"/>
            <a:ext cx="4098240" cy="1812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9fa582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LibreOffice/25.2.3.2$Linux_X86_64 LibreOffice_project/520$Build-2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2026-06-24T17:05:43Z</dcterms:created>
  <dc:creator/>
  <dc:description/>
  <dc:language>ru-RU</dc:language>
  <cp:lastModifiedBy/>
  <dcterms:modified xsi:type="dcterms:W3CDTF">2026-06-24T20:33:48Z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On-screen Show (16:9)</vt:lpwstr>
  </property>
  <property fmtid="{D5CDD505-2E9C-101B-9397-08002B2CF9AE}" pid="4" name="Slides">
    <vt:i4>6</vt:i4>
  </property>
</Properties>
</file>